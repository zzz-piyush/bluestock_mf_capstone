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arcellus" panose="020B0604020202020204" charset="0"/>
      <p:regular r:id="rId15"/>
    </p:embeddedFont>
    <p:embeddedFont>
      <p:font typeface="Montserrat" panose="000005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50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233360" y="1608634"/>
            <a:ext cx="6296860" cy="141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Bluestock Mutual Fund Analytics Platform</a:t>
            </a:r>
            <a:endParaRPr lang="en-US" sz="4250" dirty="0"/>
          </a:p>
        </p:txBody>
      </p:sp>
      <p:sp>
        <p:nvSpPr>
          <p:cNvPr id="5" name="Text 1"/>
          <p:cNvSpPr/>
          <p:nvPr/>
        </p:nvSpPr>
        <p:spPr>
          <a:xfrm>
            <a:off x="5233360" y="3097113"/>
            <a:ext cx="6296860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End-to-End Data Engineering, ETL Pipeline &amp; Interactive Dashboard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5233360" y="4087019"/>
            <a:ext cx="6296860" cy="11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Bluestock Fintech — Data Analytics Internship Capstone Project</a:t>
            </a: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Technologies: Python | SQL | SQLite | Power BI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Coverage: 40 Mutual Fund Schemes · 10 Fund Houses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D207C1-9F60-7430-C5B8-5C7B136DA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8" y="787896"/>
            <a:ext cx="3521384" cy="52822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26355"/>
            <a:ext cx="6296860" cy="127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5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Overview &amp; Objectives</a:t>
            </a:r>
            <a:endParaRPr lang="en-US" sz="3850" dirty="0"/>
          </a:p>
        </p:txBody>
      </p:sp>
      <p:sp>
        <p:nvSpPr>
          <p:cNvPr id="5" name="Text 1"/>
          <p:cNvSpPr/>
          <p:nvPr/>
        </p:nvSpPr>
        <p:spPr>
          <a:xfrm>
            <a:off x="5233360" y="2027337"/>
            <a:ext cx="3402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5233360" y="2305745"/>
            <a:ext cx="3071835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7" name="Text 3"/>
          <p:cNvSpPr/>
          <p:nvPr/>
        </p:nvSpPr>
        <p:spPr>
          <a:xfrm>
            <a:off x="5233360" y="2428875"/>
            <a:ext cx="307183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233360" y="2838549"/>
            <a:ext cx="3071835" cy="1050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Mutual fund information scattered across scheme metadata, NAV history, AUM, investor transactions and benchmarks; needs consolidation for analytics.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58286" y="2027337"/>
            <a:ext cx="3402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458286" y="2305745"/>
            <a:ext cx="307193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7"/>
          <p:cNvSpPr/>
          <p:nvPr/>
        </p:nvSpPr>
        <p:spPr>
          <a:xfrm>
            <a:off x="8458286" y="2428875"/>
            <a:ext cx="307193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Solution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458286" y="2838549"/>
            <a:ext cx="3071934" cy="840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Python ETL → relational SQLite star schema → EDA &amp; advanced analytics → Power BI interactive dashboard.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33360" y="4169866"/>
            <a:ext cx="3402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33360" y="4448274"/>
            <a:ext cx="6296860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5" name="Text 11"/>
          <p:cNvSpPr/>
          <p:nvPr/>
        </p:nvSpPr>
        <p:spPr>
          <a:xfrm>
            <a:off x="5233360" y="4571405"/>
            <a:ext cx="629686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Outcomes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233360" y="4981079"/>
            <a:ext cx="6296860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data model, validated datasets, performance &amp; risk analytics, investor insights, and an interactive BI layer for exploration.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233360" y="5701109"/>
            <a:ext cx="6296860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objectives: Build ETL; Clean &amp; validate; Design star schema; EDA; Performance &amp; risk metrics; Investor behavior; Advanced analytics; Power BI.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6B1D13C-02BF-A662-CF0B-09D39E97B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834" y="6448195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199"/>
            <a:ext cx="10868745" cy="494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kern="0" spc="-3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Sources &amp; Dataset Inventory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90" y="2095996"/>
            <a:ext cx="3299338" cy="32994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03943" y="1262955"/>
            <a:ext cx="6442112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sources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03943" y="1492548"/>
            <a:ext cx="5832528" cy="68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AMFI India</a:t>
            </a:r>
            <a:endParaRPr lang="en-US" sz="1000" dirty="0"/>
          </a:p>
          <a:p>
            <a:pPr marL="203200" indent="-203200" algn="l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mfapi.in</a:t>
            </a:r>
            <a:endParaRPr lang="en-US" sz="1000" dirty="0"/>
          </a:p>
          <a:p>
            <a:pPr marL="203200" indent="-203200" algn="l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 benchmark/index data</a:t>
            </a:r>
            <a:endParaRPr lang="en-US" sz="1000" dirty="0"/>
          </a:p>
          <a:p>
            <a:pPr marL="203200" indent="-203200" algn="l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Project-generated analytical datasets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03943" y="2311797"/>
            <a:ext cx="5832528" cy="19050"/>
          </a:xfrm>
          <a:prstGeom prst="roundRect">
            <a:avLst>
              <a:gd name="adj" fmla="val 49999"/>
            </a:avLst>
          </a:prstGeom>
          <a:solidFill>
            <a:srgbClr val="67534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703943" y="2468066"/>
            <a:ext cx="6442112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inventory (counts)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03943" y="2718495"/>
          <a:ext cx="5832528" cy="2700670"/>
        </p:xfrm>
        <a:graphic>
          <a:graphicData uri="http://schemas.openxmlformats.org/drawingml/2006/table">
            <a:tbl>
              <a:tblPr/>
              <a:tblGrid>
                <a:gridCol w="3499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Fund Master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NAV History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46,000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Investor Transactions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32,778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Scheme Performance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AUM by Fund House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90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Portfolio Holdings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322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Benchmark Data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8,050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Monthly SIP Inflows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48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Category Inflows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144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Industry Folio Count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21 records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703943" y="5536109"/>
            <a:ext cx="5832528" cy="671513"/>
          </a:xfrm>
          <a:prstGeom prst="roundRect">
            <a:avLst>
              <a:gd name="adj" fmla="val 8276"/>
            </a:avLst>
          </a:prstGeom>
          <a:solidFill>
            <a:srgbClr val="FFE0C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199" y="5666581"/>
            <a:ext cx="165294" cy="1322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33748" y="5652492"/>
            <a:ext cx="5270467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authenticity: metadata, AMFI codes, historical NAV and benchmarks = public/real-source. Investor transactions, constructed holdings, sector weights and some category inflows = project-generated/constructed.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FAC610-E125-EF8E-3AC7-EE3E9E764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061" y="793452"/>
            <a:ext cx="3513843" cy="52709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661690"/>
            <a:ext cx="6296860" cy="67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50" kern="0" spc="-4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End-to-End ETL Pipeline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661475" y="1588591"/>
            <a:ext cx="690644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stages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61475" y="2008088"/>
            <a:ext cx="6296860" cy="1089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6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Data → Ingestion (Python scripts, API pulls)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→ Cleaning &amp; Transformation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Processed CSV → Load into SQLite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 &amp; Performance Analytics → Advanced Analytics → Power BI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61475" y="3289300"/>
            <a:ext cx="3063104" cy="2907010"/>
          </a:xfrm>
          <a:prstGeom prst="roundRect">
            <a:avLst>
              <a:gd name="adj" fmla="val 2594"/>
            </a:avLst>
          </a:prstGeom>
          <a:solidFill>
            <a:srgbClr val="FFFFF4">
              <a:alpha val="95000"/>
            </a:srgbClr>
          </a:solidFill>
          <a:ln w="25399">
            <a:solidFill>
              <a:srgbClr val="FFE0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6356" y="3494187"/>
            <a:ext cx="2653341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Validation Results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66356" y="3932039"/>
            <a:ext cx="2653341" cy="205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fund-master AMFI codes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NAV AMFI codes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AMFI codes: 0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 NAV fund-date records: 0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Non-positive NAV observations: 0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895131" y="3289300"/>
            <a:ext cx="3063203" cy="2907010"/>
          </a:xfrm>
          <a:prstGeom prst="roundRect">
            <a:avLst>
              <a:gd name="adj" fmla="val 2594"/>
            </a:avLst>
          </a:prstGeom>
          <a:solidFill>
            <a:srgbClr val="FFFFF4">
              <a:alpha val="95000"/>
            </a:srgbClr>
          </a:solidFill>
          <a:ln w="25399">
            <a:solidFill>
              <a:srgbClr val="FFE0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00013" y="3494187"/>
            <a:ext cx="2653440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Cleaning Steps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100013" y="3932039"/>
            <a:ext cx="2653440" cy="1772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standardization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 checks &amp; NAV validation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type standardization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Numeric conversion &amp; missing-value checks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403"/>
            <a:ext cx="10868745" cy="60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kern="0" spc="-3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 Design — SQLite Star Schema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71" y="1605260"/>
            <a:ext cx="4452628" cy="4452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486495"/>
            <a:ext cx="5848005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highlights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98149" y="1802408"/>
            <a:ext cx="5238421" cy="192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dimensions: dim_fund (AMFI code), dim_date (1,297 dates)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 tables: fact_nav (46,000), fact_transactions (32,778), fact_performance (40), fact_aum (90)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AMFI code used as primary fund identifier across facts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dimension supports time-series and rolling-window analytics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Implemented analytical SQL queries: rolling returns, windowed Sharpe, cohort aggregations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8149" y="3884613"/>
          <a:ext cx="5238420" cy="2248636"/>
        </p:xfrm>
        <a:graphic>
          <a:graphicData uri="http://schemas.openxmlformats.org/drawingml/2006/table">
            <a:tbl>
              <a:tblPr/>
              <a:tblGrid>
                <a:gridCol w="3143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dim_fund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rows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dim_date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1,297 rows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fact_nav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46,000 rows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fact_transactions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32,778 rows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fact_performance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rows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fact_aum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90 rows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44E8A4F-6C45-3AC3-52A0-D71678309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395"/>
            <a:ext cx="10868745" cy="27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kern="0" spc="-1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Exploratory Data Analysis — Industry &amp; Investor Trends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878880"/>
            <a:ext cx="3472966" cy="25001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12331"/>
            <a:ext cx="5952678" cy="67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AUM trend (2022–2025)</a:t>
            </a:r>
            <a:endParaRPr lang="en-US" sz="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476" y="878880"/>
            <a:ext cx="3472966" cy="25001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3476" y="3412331"/>
            <a:ext cx="5952678" cy="67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Folio growth and Dec‑2025 SIP inflow</a:t>
            </a:r>
            <a:endParaRPr lang="en-US" sz="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476" y="3513634"/>
            <a:ext cx="3472966" cy="25001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93476" y="6047085"/>
            <a:ext cx="5952678" cy="67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 age distribution (project dataset)</a:t>
            </a:r>
            <a:endParaRPr lang="en-US" sz="550" dirty="0"/>
          </a:p>
        </p:txBody>
      </p:sp>
      <p:sp>
        <p:nvSpPr>
          <p:cNvPr id="9" name="Shape 4"/>
          <p:cNvSpPr/>
          <p:nvPr/>
        </p:nvSpPr>
        <p:spPr>
          <a:xfrm>
            <a:off x="661475" y="6175077"/>
            <a:ext cx="10868745" cy="161528"/>
          </a:xfrm>
          <a:prstGeom prst="roundRect">
            <a:avLst>
              <a:gd name="adj" fmla="val 19467"/>
            </a:avLst>
          </a:prstGeom>
          <a:solidFill>
            <a:srgbClr val="FFE0CC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84" y="6223298"/>
            <a:ext cx="93561" cy="748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4654" y="6223298"/>
            <a:ext cx="11160342" cy="67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Charts use the exact values provided. Age distribution and folio growth derived from project datasets.</a:t>
            </a:r>
            <a:endParaRPr lang="en-US" sz="5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5F396B-AF7E-D7C9-7FCC-53F8F070ED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8" y="787896"/>
            <a:ext cx="3521384" cy="52822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695821"/>
            <a:ext cx="6296860" cy="127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5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Fund Performance &amp; Risk Analysis</a:t>
            </a:r>
            <a:endParaRPr lang="en-US" sz="3850" dirty="0"/>
          </a:p>
        </p:txBody>
      </p:sp>
      <p:sp>
        <p:nvSpPr>
          <p:cNvPr id="5" name="Shape 1"/>
          <p:cNvSpPr/>
          <p:nvPr/>
        </p:nvSpPr>
        <p:spPr>
          <a:xfrm>
            <a:off x="5233360" y="2196802"/>
            <a:ext cx="1996827" cy="2997101"/>
          </a:xfrm>
          <a:prstGeom prst="roundRect">
            <a:avLst>
              <a:gd name="adj" fmla="val 3578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22467" y="2385913"/>
            <a:ext cx="1618614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Analysis scope &amp; constraints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5422467" y="3113484"/>
            <a:ext cx="1618614" cy="1891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 history available Jan 2022 → May 2026; a genuine 5‑year CAGR was not computed. Risk-free rate assumption: 6% annual.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383278" y="2196802"/>
            <a:ext cx="1996926" cy="2997101"/>
          </a:xfrm>
          <a:prstGeom prst="roundRect">
            <a:avLst>
              <a:gd name="adj" fmla="val 3578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72384" y="2385913"/>
            <a:ext cx="1618713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Alpha / Beta (37 funds)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572384" y="3113484"/>
            <a:ext cx="1618713" cy="1260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Alpha: 10.94% · Positive Alpha: 31 of 37 funds · 3 funds lacked benchmark data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533294" y="2196802"/>
            <a:ext cx="1996827" cy="2997101"/>
          </a:xfrm>
          <a:prstGeom prst="roundRect">
            <a:avLst>
              <a:gd name="adj" fmla="val 3578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722401" y="2385913"/>
            <a:ext cx="1618614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Maximum Drawdown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722401" y="3113484"/>
            <a:ext cx="1618614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Mean: -17.87% · Median: -16.31% · Worst: SBI Small Cap Direct -52.57% · Second: Axis Small Cap Regular -51.68%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33360" y="5366147"/>
            <a:ext cx="6296860" cy="796032"/>
          </a:xfrm>
          <a:prstGeom prst="roundRect">
            <a:avLst>
              <a:gd name="adj" fmla="val 8976"/>
            </a:avLst>
          </a:prstGeom>
          <a:solidFill>
            <a:srgbClr val="FFE0C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417" y="5565279"/>
            <a:ext cx="212620" cy="1700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86094" y="5561707"/>
            <a:ext cx="5574069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metrics (Sharpe, Sortino, CAGR‑to‑date) computed from available NAVs; reported exactly as provided.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3521E1-E42C-F825-4103-4748AB133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208"/>
            <a:ext cx="10868745" cy="494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kern="0" spc="-3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Multi‑Metric Fund Scorecard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62955"/>
            <a:ext cx="11478330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Project‑specific analytical scorecard (not investment advice). Weighted metrics: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13384"/>
            <a:ext cx="11478330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03200" indent="-203200" algn="l">
              <a:lnSpc>
                <a:spcPct val="92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CAGR 1Y 20% · CAGR 3Y 20% · Sharpe 20% · Sortino 15% · Alpha 15% · Drawdown 10%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63812"/>
            <a:ext cx="7608102" cy="4260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128544"/>
            <a:ext cx="11478330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Horizontal bar chart displays top 10 schemes by score.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886729-C053-D7CD-33A2-608A340C8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442"/>
            <a:ext cx="10868745" cy="67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50" kern="0" spc="-4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Advanced Analytics — Five Modules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65573"/>
            <a:ext cx="704436" cy="704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9126" y="1565573"/>
            <a:ext cx="1639549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VaR &amp; CVaR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579126" y="2003425"/>
            <a:ext cx="1639549" cy="159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Historical daily returns used; VaR at 95% and CVaR computed as mean of tail returns (project dataset).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891" y="1565573"/>
            <a:ext cx="704535" cy="704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9641" y="1565573"/>
            <a:ext cx="1639549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Rolling Sharpe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349641" y="2003425"/>
            <a:ext cx="1639549" cy="1820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90‑day rolling window; annualized using √252; applied to five selected funds for comparative analysis.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406" y="1565573"/>
            <a:ext cx="704535" cy="7045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20156" y="1565573"/>
            <a:ext cx="1639549" cy="671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Investor Cohorts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120156" y="2338983"/>
            <a:ext cx="1639549" cy="159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Cohorts by first transaction year; metrics: investment, redemptions, SIP vs lumpsum activity.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921" y="1565573"/>
            <a:ext cx="704535" cy="7045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90671" y="1565573"/>
            <a:ext cx="1639549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SIP Continuity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9890671" y="2003425"/>
            <a:ext cx="1639549" cy="1138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Consecutive SIP gaps computed; rule: gap &gt;35 days = "At Risk" (project-defined).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273352"/>
            <a:ext cx="704436" cy="7044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79126" y="4273352"/>
            <a:ext cx="1639549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Sector HHI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579126" y="4711204"/>
            <a:ext cx="1639549" cy="159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concentration measured as sum of squared sector proportions using constructed holdings.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DD9E89-4183-52CF-D5B6-708946FDB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1624"/>
            <a:ext cx="10868745" cy="56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kern="0" spc="-3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Investor &amp; Sector Insights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626989"/>
            <a:ext cx="5859514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counts (project dataset)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39925"/>
          <a:ext cx="5249930" cy="1338624"/>
        </p:xfrm>
        <a:graphic>
          <a:graphicData uri="http://schemas.openxmlformats.org/drawingml/2006/table">
            <a:tbl>
              <a:tblPr/>
              <a:tblGrid>
                <a:gridCol w="3149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9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SIP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19,716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Lumpsum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8,095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Redemption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4,967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 Transactions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32,778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427313"/>
            <a:ext cx="5249930" cy="63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Geography: T30 — 66.72% · B30 — 33.28%</a:t>
            </a:r>
            <a:endParaRPr lang="en-US" sz="115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SIP amount states: Madhya Pradesh · Punjab · Telangana · Tamil Nadu · Gujarat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4202906"/>
            <a:ext cx="5249930" cy="824012"/>
          </a:xfrm>
          <a:prstGeom prst="roundRect">
            <a:avLst>
              <a:gd name="adj" fmla="val 7707"/>
            </a:avLst>
          </a:prstGeom>
          <a:solidFill>
            <a:srgbClr val="FFE0C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0" y="4368998"/>
            <a:ext cx="189007" cy="1512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2893" y="4349552"/>
            <a:ext cx="4607306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 figures are based on the project-generated transaction dataset and should be treated as constructed for analysis.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640" y="1654175"/>
            <a:ext cx="4199924" cy="30231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6640" y="4813399"/>
            <a:ext cx="5249930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sector concentration: 61.89% (constructed from portfolio holdings)</a:t>
            </a:r>
            <a:endParaRPr lang="en-US" sz="1150" dirty="0"/>
          </a:p>
        </p:txBody>
      </p:sp>
      <p:sp>
        <p:nvSpPr>
          <p:cNvPr id="4" name="Shape 6"/>
          <p:cNvSpPr/>
          <p:nvPr/>
        </p:nvSpPr>
        <p:spPr>
          <a:xfrm>
            <a:off x="6286640" y="5303242"/>
            <a:ext cx="5249930" cy="647105"/>
          </a:xfrm>
          <a:prstGeom prst="roundRect">
            <a:avLst>
              <a:gd name="adj" fmla="val 9815"/>
            </a:avLst>
          </a:prstGeom>
          <a:solidFill>
            <a:srgbClr val="FFE0C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46" y="5469334"/>
            <a:ext cx="189007" cy="1512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78059" y="5449888"/>
            <a:ext cx="4607306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weights and concentration derived from constructed portfolio holdings; labeled as project-generated data.</a:t>
            </a: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DD2085-4315-AB50-9BCF-4B9DDBBDB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3A266-FFA3-C013-1EC8-A85CFFC34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57" y="4162223"/>
            <a:ext cx="4521353" cy="2528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D85D07-E9AE-D585-62C7-81959ABBE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92" y="1431706"/>
            <a:ext cx="4521353" cy="2547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3E853F-DE65-A177-1056-140894AD2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992" y="4118605"/>
            <a:ext cx="4655793" cy="2615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9FA977-E218-526E-5624-0A9FACB9D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657" y="1431706"/>
            <a:ext cx="4521353" cy="25342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8B1E08-F5F0-E618-C4A9-BD3608E95FC1}"/>
              </a:ext>
            </a:extLst>
          </p:cNvPr>
          <p:cNvSpPr txBox="1"/>
          <p:nvPr/>
        </p:nvSpPr>
        <p:spPr>
          <a:xfrm>
            <a:off x="582883" y="582300"/>
            <a:ext cx="6097554" cy="632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kern="0" spc="-34">
                <a:solidFill>
                  <a:srgbClr val="532418"/>
                </a:solidFill>
                <a:latin typeface="Marcellus" pitchFamily="34" charset="0"/>
              </a:rPr>
              <a:t>Dashboard Slides</a:t>
            </a:r>
            <a:endParaRPr lang="en-US" sz="3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FFF171-82F4-E554-3E27-4C6AB7B8A2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090" y="6591732"/>
            <a:ext cx="1069910" cy="2662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82933F-7B19-2C81-E0EB-86F1E06CB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34" y="6438864"/>
            <a:ext cx="1684166" cy="41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A8BD1D-30D7-9EED-2399-A5783046A7A1}"/>
              </a:ext>
            </a:extLst>
          </p:cNvPr>
          <p:cNvSpPr txBox="1"/>
          <p:nvPr/>
        </p:nvSpPr>
        <p:spPr>
          <a:xfrm>
            <a:off x="3047223" y="2810850"/>
            <a:ext cx="6097554" cy="1236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200" b="1" kern="0" spc="-3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THANK YOU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4111478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871</Words>
  <Application>Microsoft Office PowerPoint</Application>
  <PresentationFormat>Widescreen</PresentationFormat>
  <Paragraphs>136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Montserrat</vt:lpstr>
      <vt:lpstr>Marcellus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ICY PUNGAWIN</cp:lastModifiedBy>
  <cp:revision>2</cp:revision>
  <dcterms:created xsi:type="dcterms:W3CDTF">2026-09-19T16:09:36Z</dcterms:created>
  <dcterms:modified xsi:type="dcterms:W3CDTF">2026-09-19T16:22:24Z</dcterms:modified>
</cp:coreProperties>
</file>